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4"/>
  </p:sldMasterIdLst>
  <p:notesMasterIdLst>
    <p:notesMasterId r:id="rId8"/>
  </p:notesMasterIdLst>
  <p:sldIdLst>
    <p:sldId id="2874" r:id="rId5"/>
    <p:sldId id="2872" r:id="rId6"/>
    <p:sldId id="28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DD6"/>
    <a:srgbClr val="F8952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7394E-3F61-43F4-BED7-8E4C395D4F66}" v="6" dt="2026-05-04T15:25:34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07" autoAdjust="0"/>
    <p:restoredTop sz="96357" autoAdjust="0"/>
  </p:normalViewPr>
  <p:slideViewPr>
    <p:cSldViewPr snapToGrid="0">
      <p:cViewPr varScale="1">
        <p:scale>
          <a:sx n="100" d="100"/>
          <a:sy n="100" d="100"/>
        </p:scale>
        <p:origin x="4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612B4-A7D2-4FAE-B3F6-8F0175AB007F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B497E-CBF7-464B-A0BB-2EF160686E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038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39EF-0F10-49D4-A002-5F41A1A0C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ACA5D-8B1F-463B-9A21-92F9C7512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A35A3-5363-4049-BA2B-7EFC669D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AB30-905B-4AF5-8922-54A3BFDDB4A4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76BD-5221-449F-AEFD-72BC3199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A46FC-12C9-4345-8210-65B42F13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3B2B-8D9C-4175-8840-3BC77B41A8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18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FABA-BAC4-4CC2-89B9-4D86D9A1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0F58-D479-436D-8FEC-D4B7BE3A9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65F35-065F-43C2-BD61-9409BDD4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AB30-905B-4AF5-8922-54A3BFDDB4A4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D0E6D-D809-4FED-8F17-D60390A3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BF01-1613-43B1-B84C-B5620116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3B2B-8D9C-4175-8840-3BC77B41A8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206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C9AE-5C16-4DCF-B7E6-E22B8A99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42176-2C01-431E-80A6-C0A09278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F156F-3E63-4735-8B66-DDF1064E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EE8188-7F7F-4D53-B1B0-A29850FF12C3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5AE23-6587-49D0-985B-81F0263C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30AEF-15B8-4C5F-A836-3A2DBF2D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DF5201-2BB3-40C3-8376-9A167EC8436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827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D51B-E788-4BC2-B5E2-E1D2DE6E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ABDD-8393-450D-89E1-9B9113041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4641E-7E57-4579-A3DA-A83B08EB6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9954F-446A-4961-826F-BA79462C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603C2B-41D1-4F17-B646-6AFBDE7F4134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B8D70-AC53-426D-90C9-0C74289E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E74F-7C32-461C-BC5D-56CFCAA1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B5447D-500A-4D5B-9A50-521C6BB01DB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13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3A5A-0CB4-4336-B05E-45C5149D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C1AE3-2D9E-4BF6-BC47-3401438C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5EBBD-1C8C-417F-990F-B862AA57F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B664F-F4A4-4CD0-9F92-59E53D039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18B11-8E7A-4D9C-B9B8-240D1279F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042EF-8368-426F-AC9B-30F9EC2E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B02DEC-D7CA-4754-B90B-728AD5CA8027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CDE85-8AEA-4832-A185-34FBCDC3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4C36F-D005-4CD6-8628-73D84429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09C9DE-9E13-4344-8154-0FEDA81080A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40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1F4E-C07C-4D15-928F-280644E0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2E85D-E365-41A1-96E2-A345FB14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85BB16-5186-49E9-99B7-454AE3265FBE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8F5D5-D328-4E87-92BF-7F925DE7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79642-1F7A-4058-B22C-D21F408D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94847F-6BA7-435D-9DA5-513B22BD22B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39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14B2C-3973-406B-884F-BA1AB8258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9C0649-1EF9-4AA3-ABEF-A8652C257BB3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04C0E-BEE9-4088-AAED-ACC76904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FD2AC-D383-4D56-8CB4-6F43A19A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5BCF9D-E1B5-47E9-B361-956CA6F1C13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453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E422-FCC0-472B-A4B1-6D4C4026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AB70-FFEA-4118-AC17-DBB00D781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8C874-42C8-4B02-9047-E5DA32F75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0BE0B-E3E1-4B39-9D28-D8A5B233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9FF847-0DC6-49B8-9A6D-46126DBE4020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FB1C3-434D-4049-85FB-690CDA18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ABF30-9E48-4C37-BA09-38CD39484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45A55B-9DF4-4C6E-B3DF-D6ED5FF36FA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67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DADE-757F-40A6-B629-440ED676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5973C3-42EA-4420-877E-918D21A00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0EBFD-99E1-4161-A66E-2F7739BDE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85D85-59BC-4C9D-8A2E-1BD615B8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AD200F-A597-4CD1-8D77-82BF9A394C9A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EFB0-3F3A-4342-B339-FB1B7352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41E34-DE34-4867-8882-9DE20B98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3151C-AE12-4615-B8CA-AC6DBEA5C31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6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BCE8-724B-4BD2-9886-36AC3620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14EFC-0F82-47A2-AF3B-618D15872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F3A67-EE32-4780-A502-013FC3F0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9B9291-6F88-4F94-927B-EBED9A66A8DA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CECA4-BBF5-409E-A3F2-8AD2828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E72D3-FD36-415C-8C97-08CD6CAF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A59475-A04C-4018-82FA-BE8F8D5157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63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118C4-E09E-449E-A38B-15178FD0A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7983F-F7B9-4402-8141-294D9F66E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234E1-7DDF-444B-9564-39C50B72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D5FAA5-1474-45A0-957F-B7428B865855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AA6E-289D-4FF1-A831-D130E529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F9BF-82E5-4922-BBE1-3FFB8FF5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DDE0F9-7419-430F-803A-BFDF5023D61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286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203947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sponse 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593F9-7B30-274B-BFFF-492683631E4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73051" y="5174558"/>
            <a:ext cx="6101851" cy="467783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73051" y="3292360"/>
            <a:ext cx="10972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273051" y="4222366"/>
            <a:ext cx="5145616" cy="374649"/>
          </a:xfrm>
        </p:spPr>
        <p:txBody>
          <a:bodyPr/>
          <a:lstStyle>
            <a:lvl2pPr marL="6351" indent="0">
              <a:buNone/>
              <a:defRPr sz="2133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defRPr>
            </a:lvl2pPr>
          </a:lstStyle>
          <a:p>
            <a:pPr lvl="1"/>
            <a:r>
              <a:rPr lang="en-US" dirty="0"/>
              <a:t>Total Responses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273051" y="5699603"/>
            <a:ext cx="6101851" cy="467783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59176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9312" y="2177875"/>
            <a:ext cx="4409642" cy="2463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61E1D-D299-F047-95EB-7BCC6E151E3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743F-B351-5D45-803A-DCDEE6A70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838200" y="4340081"/>
            <a:ext cx="52799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0120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B48FB-E956-2048-9E74-C69E7CAA2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5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9DF3A-E9BA-470A-87FD-030A3259E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343EC-E0DA-4C6B-994D-77DAFE9D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DBA9-EFFE-4741-A97F-1BD4EC24B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C0FE4D0-293C-4D03-9937-B69AFE2EAA52}" type="datetimeFigureOut">
              <a:rPr lang="en-US" smtClean="0"/>
              <a:pPr>
                <a:defRPr/>
              </a:pPr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62A74-728E-4492-8FBC-555EDA89B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D1EA-8BC3-4859-B8C2-55C5464ED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502AB5-77DC-4B37-AEBD-6800237ED7A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728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87" r:id="rId13"/>
    <p:sldLayoutId id="2147483676" r:id="rId14"/>
    <p:sldLayoutId id="214748373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9CEE-8523-A529-A5B1-A5D6C4E7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EB5F717-4C85-4F66-6786-3FAA1FA1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458" y="98641"/>
            <a:ext cx="9401261" cy="1325563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en-US" sz="3400" b="1" dirty="0">
                <a:solidFill>
                  <a:srgbClr val="FF9900"/>
                </a:solidFill>
                <a:latin typeface="Calibri" charset="0"/>
                <a:cs typeface="Calibri" charset="0"/>
              </a:rPr>
              <a:t>How to Use the Development Plan Template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2E4A55-E753-CF20-0D65-916020932D14}"/>
              </a:ext>
            </a:extLst>
          </p:cNvPr>
          <p:cNvSpPr txBox="1">
            <a:spLocks/>
          </p:cNvSpPr>
          <p:nvPr/>
        </p:nvSpPr>
        <p:spPr>
          <a:xfrm>
            <a:off x="503458" y="1285892"/>
            <a:ext cx="10850002" cy="52638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703DD6"/>
                </a:solidFill>
              </a:rPr>
              <a:t>First, think of one person on your team who would benefit from development.</a:t>
            </a:r>
            <a:br>
              <a:rPr lang="en-US" sz="1800" b="1" dirty="0">
                <a:solidFill>
                  <a:srgbClr val="703DD6"/>
                </a:solidFill>
              </a:rPr>
            </a:br>
            <a:endParaRPr lang="en-US" sz="1800" b="1" dirty="0">
              <a:solidFill>
                <a:srgbClr val="703DD6"/>
              </a:solidFill>
            </a:endParaRPr>
          </a:p>
          <a:p>
            <a:r>
              <a:rPr lang="en-US" sz="1800" b="1" dirty="0"/>
              <a:t>Step 2: Choose one skill to develop</a:t>
            </a:r>
            <a:br>
              <a:rPr lang="en-US" sz="1800" dirty="0"/>
            </a:br>
            <a:r>
              <a:rPr lang="en-US" sz="1800" dirty="0"/>
              <a:t>Pick one area that would have the biggest impact. For example:</a:t>
            </a:r>
            <a:br>
              <a:rPr lang="en-US" sz="1800" dirty="0"/>
            </a:br>
            <a:r>
              <a:rPr lang="en-US" sz="1800" dirty="0"/>
              <a:t>• Speak up more in meetings</a:t>
            </a:r>
            <a:br>
              <a:rPr lang="en-US" sz="1800" dirty="0"/>
            </a:br>
            <a:r>
              <a:rPr lang="en-US" sz="1800" dirty="0"/>
              <a:t>• Build relationships outside the team</a:t>
            </a:r>
            <a:br>
              <a:rPr lang="en-US" sz="1800" dirty="0"/>
            </a:br>
            <a:r>
              <a:rPr lang="en-US" sz="1800" dirty="0"/>
              <a:t>• Take more initiative</a:t>
            </a:r>
            <a:br>
              <a:rPr lang="en-US" sz="1800" dirty="0"/>
            </a:br>
            <a:r>
              <a:rPr lang="en-US" sz="1800" dirty="0"/>
              <a:t>• Improve communication</a:t>
            </a:r>
            <a:br>
              <a:rPr lang="en-US" sz="1800" dirty="0"/>
            </a:br>
            <a:r>
              <a:rPr lang="en-US" sz="1800" dirty="0"/>
              <a:t>• Think more strategically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Step 3: Choose one action to practice</a:t>
            </a:r>
            <a:br>
              <a:rPr lang="en-US" sz="1800" dirty="0"/>
            </a:br>
            <a:r>
              <a:rPr lang="en-US" sz="1800" dirty="0"/>
              <a:t>What is one real, on-the-job opportunity they can try?</a:t>
            </a:r>
            <a:br>
              <a:rPr lang="en-US" sz="1800" dirty="0"/>
            </a:br>
            <a:r>
              <a:rPr lang="en-US" sz="1800" dirty="0"/>
              <a:t>• Lead part of a meeting</a:t>
            </a:r>
            <a:br>
              <a:rPr lang="en-US" sz="1800" dirty="0"/>
            </a:br>
            <a:r>
              <a:rPr lang="en-US" sz="1800" dirty="0"/>
              <a:t>• Present an idea or update</a:t>
            </a:r>
            <a:br>
              <a:rPr lang="en-US" sz="1800" dirty="0"/>
            </a:br>
            <a:r>
              <a:rPr lang="en-US" sz="1800" dirty="0"/>
              <a:t>• Take ownership of a small project</a:t>
            </a:r>
            <a:br>
              <a:rPr lang="en-US" sz="1800" dirty="0"/>
            </a:br>
            <a:r>
              <a:rPr lang="en-US" sz="1800" dirty="0"/>
              <a:t>• Connect with a new stakeholder</a:t>
            </a:r>
            <a:br>
              <a:rPr lang="en-US" sz="1800" dirty="0"/>
            </a:br>
            <a:endParaRPr lang="en-US" sz="1800" dirty="0"/>
          </a:p>
          <a:p>
            <a:r>
              <a:rPr lang="en-US" sz="1800" b="1" dirty="0"/>
              <a:t>Step 4: Decide how you will support them</a:t>
            </a:r>
            <a:br>
              <a:rPr lang="en-US" sz="1800" dirty="0"/>
            </a:br>
            <a:r>
              <a:rPr lang="en-US" sz="1800" dirty="0"/>
              <a:t>How will you help them succeed?</a:t>
            </a:r>
            <a:br>
              <a:rPr lang="en-US" sz="1800" dirty="0"/>
            </a:br>
            <a:r>
              <a:rPr lang="en-US" sz="1800" dirty="0"/>
              <a:t>• Provide clear expectations</a:t>
            </a:r>
            <a:br>
              <a:rPr lang="en-US" sz="1800" dirty="0"/>
            </a:br>
            <a:r>
              <a:rPr lang="en-US" sz="1800" dirty="0"/>
              <a:t>• Offer feedback after they try it</a:t>
            </a:r>
            <a:br>
              <a:rPr lang="en-US" sz="1800" dirty="0"/>
            </a:br>
            <a:r>
              <a:rPr lang="en-US" sz="1800" dirty="0"/>
              <a:t>• Check in regularly</a:t>
            </a:r>
            <a:br>
              <a:rPr lang="en-US" sz="1800" dirty="0"/>
            </a:br>
            <a:r>
              <a:rPr lang="en-US" sz="1800" dirty="0"/>
              <a:t>• Encourage and reinforce progress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1600" dirty="0"/>
          </a:p>
        </p:txBody>
      </p:sp>
      <p:pic>
        <p:nvPicPr>
          <p:cNvPr id="3" name="Picture 2" descr="A black and orange logo&#10;&#10;AI-generated content may be incorrect.">
            <a:extLst>
              <a:ext uri="{FF2B5EF4-FFF2-40B4-BE49-F238E27FC236}">
                <a16:creationId xmlns:a16="http://schemas.microsoft.com/office/drawing/2014/main" id="{AC5A9FE8-C484-105F-1AED-F3F6FE581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835" y="98641"/>
            <a:ext cx="1614164" cy="907967"/>
          </a:xfrm>
          <a:prstGeom prst="rect">
            <a:avLst/>
          </a:prstGeom>
        </p:spPr>
      </p:pic>
      <p:pic>
        <p:nvPicPr>
          <p:cNvPr id="4" name="Picture 3" descr="A group of people smiling and looking at a tablet&#10;&#10;AI-generated content may be incorrect.">
            <a:extLst>
              <a:ext uri="{FF2B5EF4-FFF2-40B4-BE49-F238E27FC236}">
                <a16:creationId xmlns:a16="http://schemas.microsoft.com/office/drawing/2014/main" id="{70236BDE-E3FC-3D7F-6D3B-93DD71B90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5"/>
          <a:stretch>
            <a:fillRect/>
          </a:stretch>
        </p:blipFill>
        <p:spPr>
          <a:xfrm>
            <a:off x="7356764" y="1785051"/>
            <a:ext cx="6394792" cy="464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0458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141D-D49D-9E1C-EC0E-823B5298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003643-2DBF-26A7-7C6D-5471312A5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286525"/>
              </p:ext>
            </p:extLst>
          </p:nvPr>
        </p:nvGraphicFramePr>
        <p:xfrm>
          <a:off x="1119263" y="1011700"/>
          <a:ext cx="9953473" cy="5547873"/>
        </p:xfrm>
        <a:graphic>
          <a:graphicData uri="http://schemas.openxmlformats.org/drawingml/2006/table">
            <a:tbl>
              <a:tblPr firstRow="1"/>
              <a:tblGrid>
                <a:gridCol w="4677719">
                  <a:extLst>
                    <a:ext uri="{9D8B030D-6E8A-4147-A177-3AD203B41FA5}">
                      <a16:colId xmlns:a16="http://schemas.microsoft.com/office/drawing/2014/main" val="2592231634"/>
                    </a:ext>
                  </a:extLst>
                </a:gridCol>
                <a:gridCol w="5275754">
                  <a:extLst>
                    <a:ext uri="{9D8B030D-6E8A-4147-A177-3AD203B41FA5}">
                      <a16:colId xmlns:a16="http://schemas.microsoft.com/office/drawing/2014/main" val="3676032119"/>
                    </a:ext>
                  </a:extLst>
                </a:gridCol>
              </a:tblGrid>
              <a:tr h="6875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Development Plan Template (Example)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417"/>
                  </a:ext>
                </a:extLst>
              </a:tr>
              <a:tr h="1132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employee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Robert from marketing</a:t>
                      </a: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02626"/>
                  </a:ext>
                </a:extLst>
              </a:tr>
              <a:tr h="12133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skill to develop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 relationships outside the team</a:t>
                      </a: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69925"/>
                  </a:ext>
                </a:extLst>
              </a:tr>
              <a:tr h="12353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action for them to practice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 some relationships with the sales team</a:t>
                      </a: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746427"/>
                  </a:ext>
                </a:extLst>
              </a:tr>
              <a:tr h="1279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how you will support them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Book a meeting with Robert to introduce him to Doug from sales.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25708"/>
                  </a:ext>
                </a:extLst>
              </a:tr>
            </a:tbl>
          </a:graphicData>
        </a:graphic>
      </p:graphicFrame>
      <p:pic>
        <p:nvPicPr>
          <p:cNvPr id="2" name="Picture 1" descr="A black and orange logo&#10;&#10;AI-generated content may be incorrect.">
            <a:extLst>
              <a:ext uri="{FF2B5EF4-FFF2-40B4-BE49-F238E27FC236}">
                <a16:creationId xmlns:a16="http://schemas.microsoft.com/office/drawing/2014/main" id="{9B255926-558B-20DC-BC75-2027A9709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99" y="98642"/>
            <a:ext cx="1485899" cy="8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498A5-9313-880A-6F7A-D72FF610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915C36-213E-1E31-7197-554C99B25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99058"/>
              </p:ext>
            </p:extLst>
          </p:nvPr>
        </p:nvGraphicFramePr>
        <p:xfrm>
          <a:off x="1119263" y="1011700"/>
          <a:ext cx="9953473" cy="5547873"/>
        </p:xfrm>
        <a:graphic>
          <a:graphicData uri="http://schemas.openxmlformats.org/drawingml/2006/table">
            <a:tbl>
              <a:tblPr firstRow="1"/>
              <a:tblGrid>
                <a:gridCol w="4677719">
                  <a:extLst>
                    <a:ext uri="{9D8B030D-6E8A-4147-A177-3AD203B41FA5}">
                      <a16:colId xmlns:a16="http://schemas.microsoft.com/office/drawing/2014/main" val="2592231634"/>
                    </a:ext>
                  </a:extLst>
                </a:gridCol>
                <a:gridCol w="5275754">
                  <a:extLst>
                    <a:ext uri="{9D8B030D-6E8A-4147-A177-3AD203B41FA5}">
                      <a16:colId xmlns:a16="http://schemas.microsoft.com/office/drawing/2014/main" val="3676032119"/>
                    </a:ext>
                  </a:extLst>
                </a:gridCol>
              </a:tblGrid>
              <a:tr h="6875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Development Plan Template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D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4417"/>
                  </a:ext>
                </a:extLst>
              </a:tr>
              <a:tr h="1132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employee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02626"/>
                  </a:ext>
                </a:extLst>
              </a:tr>
              <a:tr h="12133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skill to develop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69925"/>
                  </a:ext>
                </a:extLst>
              </a:tr>
              <a:tr h="12353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one action for them to practice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746427"/>
                  </a:ext>
                </a:extLst>
              </a:tr>
              <a:tr h="1279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Choose how you will support them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4" marR="6044" marT="60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25708"/>
                  </a:ext>
                </a:extLst>
              </a:tr>
            </a:tbl>
          </a:graphicData>
        </a:graphic>
      </p:graphicFrame>
      <p:pic>
        <p:nvPicPr>
          <p:cNvPr id="2" name="Picture 1" descr="A black and orange logo&#10;&#10;AI-generated content may be incorrect.">
            <a:extLst>
              <a:ext uri="{FF2B5EF4-FFF2-40B4-BE49-F238E27FC236}">
                <a16:creationId xmlns:a16="http://schemas.microsoft.com/office/drawing/2014/main" id="{12BE4B1D-0A58-34FB-461C-4B14BB1C2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099" y="98642"/>
            <a:ext cx="1485899" cy="83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2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faa96-8cf1-4059-847d-c6aac59da368" xsi:nil="true"/>
    <lcf76f155ced4ddcb4097134ff3c332f xmlns="70db8bc2-d936-43be-93d7-fef3ec10b445">
      <Terms xmlns="http://schemas.microsoft.com/office/infopath/2007/PartnerControls"/>
    </lcf76f155ced4ddcb4097134ff3c332f>
    <RQRelated xmlns="70db8bc2-d936-43be-93d7-fef3ec10b445">false</RQRelate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1998A758673B4CB6C0E06C34E9D2D0" ma:contentTypeVersion="21" ma:contentTypeDescription="Create a new document." ma:contentTypeScope="" ma:versionID="d636be8751e4ff3b8848aac5d8fd1930">
  <xsd:schema xmlns:xsd="http://www.w3.org/2001/XMLSchema" xmlns:xs="http://www.w3.org/2001/XMLSchema" xmlns:p="http://schemas.microsoft.com/office/2006/metadata/properties" xmlns:ns2="723faa96-8cf1-4059-847d-c6aac59da368" xmlns:ns3="70db8bc2-d936-43be-93d7-fef3ec10b445" targetNamespace="http://schemas.microsoft.com/office/2006/metadata/properties" ma:root="true" ma:fieldsID="bf24cb943847b85143921693b23d5f81" ns2:_="" ns3:_="">
    <xsd:import namespace="723faa96-8cf1-4059-847d-c6aac59da368"/>
    <xsd:import namespace="70db8bc2-d936-43be-93d7-fef3ec10b4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RQRelated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faa96-8cf1-4059-847d-c6aac59da3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ffee158-579d-48af-b40c-b79be4016db4}" ma:internalName="TaxCatchAll" ma:showField="CatchAllData" ma:web="723faa96-8cf1-4059-847d-c6aac59da3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b8bc2-d936-43be-93d7-fef3ec10b4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RQRelated" ma:index="21" nillable="true" ma:displayName="RQ Related" ma:default="0" ma:description="Videos that contain information about RQ for App Design" ma:format="Dropdown" ma:internalName="RQRelated">
      <xsd:simpleType>
        <xsd:restriction base="dms:Boolea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b2275990-ba2d-4ea8-b25e-2faa630343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668FC1-1212-48B5-9CB2-CB18BDD492E1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723faa96-8cf1-4059-847d-c6aac59da368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0db8bc2-d936-43be-93d7-fef3ec10b44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7317585-557C-40B5-955E-2EDA0D2988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3faa96-8cf1-4059-847d-c6aac59da368"/>
    <ds:schemaRef ds:uri="70db8bc2-d936-43be-93d7-fef3ec10b4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29DB87-3F06-44CE-953B-15ACC3C019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13739</TotalTime>
  <Words>244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How to Use the Development Plan Template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Mackenzie Rodger</dc:creator>
  <cp:lastModifiedBy>Charlie Medakovic</cp:lastModifiedBy>
  <cp:revision>88</cp:revision>
  <dcterms:created xsi:type="dcterms:W3CDTF">2017-07-21T02:17:57Z</dcterms:created>
  <dcterms:modified xsi:type="dcterms:W3CDTF">2026-05-04T15:53:38Z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0x010100201998A758673B4CB6C0E06C34E9D2D0</vt:lpwstr>
  </property>
  <property fmtid="{D5CDD505-2E9C-101B-9397-08002B2CF9AE}" pid="3" name="MediaServiceImageTags">
    <vt:lpwstr/>
  </property>
</Properties>
</file>